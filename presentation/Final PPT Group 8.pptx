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2A5E"/>
                </a:solidFill>
                <a:latin typeface="Cambria"/>
              </a:defRPr>
            </a:pPr>
            <a:r>
              <a:rPr sz="1600" b="0" i="0" u="none" strike="noStrike">
                <a:solidFill>
                  <a:srgbClr val="1B2A5E"/>
                </a:solidFill>
                <a:latin typeface="Cambria"/>
              </a:rPr>
              <a:t>Churn Rate by Contract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1B2A5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2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45.8</c:v>
                </c:pt>
                <c:pt idx="1">
                  <c:v>10.7</c:v>
                </c:pt>
                <c:pt idx="2">
                  <c:v>2.6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22B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B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0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team and institution.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Binary classification: predict whether a telecom customer will churn.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Target: Churn Value. The classes are imbalanced (73.5% vs 26.5%).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Month-to-month customers churn far more than one- or two-year contract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model: XGBoost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matrix on the 1,409-record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Highest-risk deciles hold most actual churners, so retention effort can be prioritised.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screenshots ready as backup while demonstrating the live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roCode9686/ml_projec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48640"/>
            <a:ext cx="13716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07872"/>
            <a:ext cx="914400" cy="85326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2860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St. Joseph's University, Bengaluru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22860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Advanced Computing  |  Academic Year 2026–2027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 USING MACHINE LEARNING AND POWER BI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03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Examination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00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Joshuva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241BCADA19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880360" y="4800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Sinan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241BCADA70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4800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Jijoy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241BCADA26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60920" y="4800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Adir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241BCADA13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0" y="4800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241BCADA44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Problem Statement &amp; 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occurs when customers discontinue a service.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predicts whether a telecom customer is likely to churn, using customer, service, contract, satisfaction and financial information.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binary churn prediction along with a churn probability / risk level.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5196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multiple telecom customer datasets; clean, preprocess and analyse the data.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compare Logistic Regression and XGBoost models.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important factors associated with churn prediction.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Power BI dashboard for churn and customer-risk analysis.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0" y="1234440"/>
            <a:ext cx="4050792" cy="2331720"/>
          </a:xfrm>
          <a:prstGeom prst="roundRect">
            <a:avLst>
              <a:gd name="adj" fmla="val 3137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181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→ Output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182880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buNone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service, contract, satisfaction and financial attributes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+ probability / risk level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589520" y="3794760"/>
            <a:ext cx="4050792" cy="2377440"/>
          </a:xfrm>
          <a:prstGeom prst="roundRect">
            <a:avLst>
              <a:gd name="adj" fmla="val 3077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18120" y="3931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Target: Churn Value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18120" y="452628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45262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20072" y="452628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20072" y="45262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Dataset &amp; Data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Telecom Customer Churn Dataset  •  Sources: Demographics, Services, Status, Location, Population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17830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64385"/>
            <a:ext cx="178308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55448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1645920"/>
            <a:ext cx="17830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164385"/>
            <a:ext cx="178308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/ Columns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645920"/>
            <a:ext cx="17830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164385"/>
            <a:ext cx="178308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Features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1F4FA"/>
          </a:solidFill>
          <a:ln w="9525">
            <a:solidFill>
              <a:srgbClr val="1B2A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918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68880" y="329184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1F4FA"/>
          </a:solidFill>
          <a:ln w="9525">
            <a:solidFill>
              <a:srgbClr val="1B2A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68880" y="32918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329184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1F4FA"/>
          </a:solidFill>
          <a:ln w="9525">
            <a:solidFill>
              <a:srgbClr val="1B2A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89120" y="32918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1F4FA"/>
          </a:solidFill>
          <a:ln w="9525">
            <a:solidFill>
              <a:srgbClr val="1B2A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794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Service / Type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68880" y="37947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1F4FA"/>
          </a:solidFill>
          <a:ln w="9525">
            <a:solidFill>
              <a:srgbClr val="1B2A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68880" y="3794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9120" y="37947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1F4FA"/>
          </a:solidFill>
          <a:ln w="9525">
            <a:solidFill>
              <a:srgbClr val="1B2A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89120" y="3794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29768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1F4FA"/>
          </a:solidFill>
          <a:ln w="9525">
            <a:solidFill>
              <a:srgbClr val="1B2A5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97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468880" y="429768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1F4FA"/>
          </a:solidFill>
          <a:ln w="9525">
            <a:solidFill>
              <a:srgbClr val="1B2A5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68880" y="4297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0" y="429768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1F4FA"/>
          </a:solidFill>
          <a:ln w="9525">
            <a:solidFill>
              <a:srgbClr val="1B2A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89120" y="4297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5623560" cy="1280160"/>
          </a:xfrm>
          <a:prstGeom prst="roundRect">
            <a:avLst>
              <a:gd name="adj" fmla="val 5714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4983480"/>
            <a:ext cx="5257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limitation: </a:t>
            </a:r>
            <a:pPr indent="0" marL="0">
              <a:buNone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static and contains some missing categorical values. Its size suits a lab-scale project but may not represent a complete production telecom population.</a:t>
            </a:r>
            <a:endParaRPr lang="en-US" sz="1400" dirty="0"/>
          </a:p>
        </p:txBody>
      </p:sp>
      <p:pic>
        <p:nvPicPr>
          <p:cNvPr id="35" name="Image 0" descr="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554480"/>
            <a:ext cx="5148072" cy="3049452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6492240" y="47548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92240" y="4846320"/>
            <a:ext cx="24688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73.5%</a:t>
            </a:r>
            <a:endParaRPr lang="en-US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492240" y="5576926"/>
            <a:ext cx="246888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Non-Churn: 5,174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171432" y="47548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171432" y="4846320"/>
            <a:ext cx="24688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2600" dirty="0"/>
          </a:p>
        </p:txBody>
      </p:sp>
      <p:sp>
        <p:nvSpPr>
          <p:cNvPr id="41" name="Text 38"/>
          <p:cNvSpPr txBox="1"/>
          <p:nvPr/>
        </p:nvSpPr>
        <p:spPr>
          <a:xfrm>
            <a:off x="9171432" y="5576926"/>
            <a:ext cx="246888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Churn: 1,869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Data Preparation &amp; EDA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source tables integrated using Customer ID and Zip Code.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Customer IDs / Zip Codes checked; no complete-row duplicates found.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and target-derived fields removed before modelling.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 encoded with One-Hot Encoding.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handled during preprocessing.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inspected with boxplots and IQR (676 observations outside IQR bounds for Number of Referrals).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309360" y="1188720"/>
          <a:ext cx="5330952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466344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4663440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2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9079992" y="466344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79992" y="4663440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XGBoost feature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Machine Learning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type: Binary Classification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Logistic Regression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classification benchmark.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45352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XGBoost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057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tree-based boosting model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nonlinear relationships and interactions between customer attributes.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Train-Test Split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480560"/>
            <a:ext cx="16916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05095"/>
            <a:ext cx="16916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5,634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77440" y="43891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77440" y="4480560"/>
            <a:ext cx="16916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5105095"/>
            <a:ext cx="16916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1,409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438912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 •  random_state = 42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45352" y="3931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Configuration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45352" y="4389120"/>
            <a:ext cx="1005840" cy="1234440"/>
          </a:xfrm>
          <a:prstGeom prst="roundRect">
            <a:avLst>
              <a:gd name="adj" fmla="val 727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45352" y="4480560"/>
            <a:ext cx="10058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245352" y="5105095"/>
            <a:ext cx="10058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42632" y="4389120"/>
            <a:ext cx="1005840" cy="1234440"/>
          </a:xfrm>
          <a:prstGeom prst="roundRect">
            <a:avLst>
              <a:gd name="adj" fmla="val 727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42632" y="4480560"/>
            <a:ext cx="10058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342632" y="5105095"/>
            <a:ext cx="10058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39912" y="4389120"/>
            <a:ext cx="1005840" cy="1234440"/>
          </a:xfrm>
          <a:prstGeom prst="roundRect">
            <a:avLst>
              <a:gd name="adj" fmla="val 727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39912" y="4480560"/>
            <a:ext cx="10058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8439912" y="5105095"/>
            <a:ext cx="10058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537192" y="4389120"/>
            <a:ext cx="1005840" cy="1234440"/>
          </a:xfrm>
          <a:prstGeom prst="roundRect">
            <a:avLst>
              <a:gd name="adj" fmla="val 727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37192" y="4480560"/>
            <a:ext cx="10058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9537192" y="5105095"/>
            <a:ext cx="10058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634472" y="4389120"/>
            <a:ext cx="1005840" cy="1234440"/>
          </a:xfrm>
          <a:prstGeom prst="roundRect">
            <a:avLst>
              <a:gd name="adj" fmla="val 7273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4472" y="4480560"/>
            <a:ext cx="10058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10634472" y="5105095"/>
            <a:ext cx="10058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col. sample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were manually configured; no GridSearchCV / RandomizedSearchCV was performed.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Model Evaluation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675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60120"/>
                <a:gridCol w="960120"/>
                <a:gridCol w="822960"/>
                <a:gridCol w="64008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recorded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(final)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971800"/>
            <a:ext cx="6675120" cy="1234440"/>
          </a:xfrm>
          <a:prstGeom prst="roundRect">
            <a:avLst>
              <a:gd name="adj" fmla="val 5926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01752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reached 96.0% accuracy with 0.90 recall, 0.93 F1-score and 0.9924 ROC-AUC on the recorded test set.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metrics?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84632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the minority class, so precision, recall, F1 and ROC-AUC are read alongside accuracy.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38 of 374 churners were missed (false negatives); 14 false alarms among 1,035 non-churners.</a:t>
            </a:r>
            <a:endParaRPr lang="en-US" sz="1400" dirty="0"/>
          </a:p>
        </p:txBody>
      </p:sp>
      <p:pic>
        <p:nvPicPr>
          <p:cNvPr id="9" name="Image 0" descr="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280160"/>
            <a:ext cx="4050792" cy="31270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89520" y="484632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 1,021  |  False Pos 14  |  False Neg 38  |  True Pos 336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Results &amp; Dashboard / Visualization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21031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9870"/>
            <a:ext cx="21031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98064" y="11430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98064" y="1234440"/>
            <a:ext cx="21031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1,869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798064" y="1699870"/>
            <a:ext cx="21031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47488" y="11430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47488" y="1234440"/>
            <a:ext cx="21031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047488" y="1699870"/>
            <a:ext cx="21031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96912" y="11430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1234440"/>
            <a:ext cx="21031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$4,400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296912" y="1699870"/>
            <a:ext cx="21031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CLTV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46336" y="11430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46336" y="1234440"/>
            <a:ext cx="21031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$7.76M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546336" y="1699870"/>
            <a:ext cx="21031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at Risk</a:t>
            </a:r>
            <a:endParaRPr lang="en-US" sz="1200" dirty="0"/>
          </a:p>
        </p:txBody>
      </p:sp>
      <p:pic>
        <p:nvPicPr>
          <p:cNvPr id="19" name="Image 0" descr="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6309360" cy="360203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48640" y="59436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executive dashboard (page 1)</a:t>
            </a:r>
            <a:endParaRPr lang="en-US" sz="1200" dirty="0"/>
          </a:p>
        </p:txBody>
      </p:sp>
      <p:pic>
        <p:nvPicPr>
          <p:cNvPr id="21" name="Image 1" descr="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286000"/>
            <a:ext cx="4507992" cy="266435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132320" y="5074920"/>
            <a:ext cx="4507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Top-10% Lift: 3.77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predicted churners in the test analysis represent $1.46M CLTV. The $7.76M KPI is the dashboard’s portfolio-level figure – a different scope.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Live 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END-TO-END DEMO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2B3F85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64592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48840" y="16459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164592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64592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49040" y="16459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2B3F85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164592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164592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349240" y="16459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164592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64592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949440" y="16459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2B3F85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164592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164592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549640" y="16459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49640" y="164592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966960" y="164592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149840" y="16459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2B3F85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49840" y="164592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38328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telecom customer data from multiple sources.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 attributes for machine learning.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trained XGBoost model to predict churn.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churn probability and predicted outcome.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customer risk, lift and CLTV at risk.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results in an interactive Power BI dashboard.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83680" y="2926080"/>
            <a:ext cx="5056632" cy="3337560"/>
          </a:xfrm>
          <a:prstGeom prst="roundRect">
            <a:avLst>
              <a:gd name="adj" fmla="val 2192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1228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will now open the actual project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361188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preprocessing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probability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Customer-risk output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and interactive filters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Challenges &amp; Improvements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593592" cy="5029200"/>
          </a:xfrm>
          <a:prstGeom prst="roundRect">
            <a:avLst>
              <a:gd name="adj" fmla="val 2036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3227832" cy="548640"/>
          </a:xfrm>
          <a:prstGeom prst="roundRect">
            <a:avLst>
              <a:gd name="adj" fmla="val 13333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five datasets with different structures.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categorical values.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target-derived fields from entering the model.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class imbalance.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model outputs into useful Power BI visuals.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3593592" cy="5029200"/>
          </a:xfrm>
          <a:prstGeom prst="roundRect">
            <a:avLst>
              <a:gd name="adj" fmla="val 2036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371600"/>
            <a:ext cx="3227832" cy="548640"/>
          </a:xfrm>
          <a:prstGeom prst="roundRect">
            <a:avLst>
              <a:gd name="adj" fmla="val 13333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3716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194560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static, not live.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stratified 80:20 split for evaluation.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hyperparameter search.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shows model behaviour, not causation.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deployed as a production service.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593592" cy="5029200"/>
          </a:xfrm>
          <a:prstGeom prst="roundRect">
            <a:avLst>
              <a:gd name="adj" fmla="val 2036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371600"/>
            <a:ext cx="3227832" cy="54864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13716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194560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larger, more recent customer datasets.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hyperparameter tuning.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validation.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prediction service.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retention workflows.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Team Contribution, Learning &amp; 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760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749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Joshuva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 &amp; Data Scientist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Muhammed Sinan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Jonathan Jijoy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Engineer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Muhammed Adir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 Engineer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Siddharth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Developer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4251960"/>
            <a:ext cx="2788920" cy="438912"/>
          </a:xfrm>
          <a:prstGeom prst="roundRect">
            <a:avLst>
              <a:gd name="adj" fmla="val 125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251960"/>
            <a:ext cx="27889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 &amp; cleaning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4251960"/>
            <a:ext cx="2788920" cy="438912"/>
          </a:xfrm>
          <a:prstGeom prst="roundRect">
            <a:avLst>
              <a:gd name="adj" fmla="val 125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4251960"/>
            <a:ext cx="27889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4800600"/>
            <a:ext cx="2788920" cy="438912"/>
          </a:xfrm>
          <a:prstGeom prst="roundRect">
            <a:avLst>
              <a:gd name="adj" fmla="val 125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800600"/>
            <a:ext cx="27889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modelling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0" y="4800600"/>
            <a:ext cx="2788920" cy="438912"/>
          </a:xfrm>
          <a:prstGeom prst="roundRect">
            <a:avLst>
              <a:gd name="adj" fmla="val 125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4800600"/>
            <a:ext cx="27889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&amp; model evaluation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5349240"/>
            <a:ext cx="2788920" cy="438912"/>
          </a:xfrm>
          <a:prstGeom prst="roundRect">
            <a:avLst>
              <a:gd name="adj" fmla="val 125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349240"/>
            <a:ext cx="27889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lift analysis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74720" y="5349240"/>
            <a:ext cx="2788920" cy="438912"/>
          </a:xfrm>
          <a:prstGeom prst="roundRect">
            <a:avLst>
              <a:gd name="adj" fmla="val 125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74720" y="5349240"/>
            <a:ext cx="27889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development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75120" y="1188720"/>
            <a:ext cx="4965192" cy="3108960"/>
          </a:xfrm>
          <a:prstGeom prst="roundRect">
            <a:avLst>
              <a:gd name="adj" fmla="val 2353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0372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1691640"/>
            <a:ext cx="4526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churn prediction system built on 7,043 telecom customer records. XGBoost achieved 96.0% accuracy and 0.9924 ROC-AUC, and the Power BI dashboard turns model outputs into customer-risk and business insights.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675120" y="4480560"/>
            <a:ext cx="4965192" cy="1051560"/>
          </a:xfrm>
          <a:prstGeom prst="roundRect">
            <a:avLst>
              <a:gd name="adj" fmla="val 6957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0" y="452628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pPr indent="0" marL="0">
              <a:buNone/>
            </a:pPr>
            <a:r>
              <a:rPr lang="en-US" sz="13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tuning, larger datasets, time-based validation and production deployment.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5715000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400" u="sng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github.com/broCode9686/ml_project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2026-09-29T06:35:30Z</dcterms:created>
  <dcterms:modified xsi:type="dcterms:W3CDTF">2026-09-29T06:35:30Z</dcterms:modified>
</cp:coreProperties>
</file>